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26679" y="0"/>
            <a:ext cx="4462272" cy="6858000"/>
          </a:xfrm>
          <a:prstGeom prst="rect">
            <a:avLst/>
          </a:prstGeom>
          <a:solidFill>
            <a:srgbClr val="0B1F38"/>
          </a:solidFill>
          <a:ln>
            <a:solidFill>
              <a:srgbClr val="0B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1143000"/>
            <a:ext cx="3474720" cy="3474720"/>
          </a:xfrm>
          <a:prstGeom prst="ellipse">
            <a:avLst/>
          </a:prstGeom>
          <a:noFill/>
          <a:ln w="27940">
            <a:solidFill>
              <a:srgbClr val="1535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14232" y="1627632"/>
            <a:ext cx="2514600" cy="2514600"/>
          </a:xfrm>
          <a:prstGeom prst="ellipse">
            <a:avLst/>
          </a:prstGeom>
          <a:noFill/>
          <a:ln w="279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98864" y="2112264"/>
            <a:ext cx="1508760" cy="1508760"/>
          </a:xfrm>
          <a:prstGeom prst="ellipse">
            <a:avLst/>
          </a:prstGeom>
          <a:noFill/>
          <a:ln w="2794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76656"/>
            <a:ext cx="2560320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PROJECT BRIEFING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653796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园区安全接入与集中审计三件套（代表性草稿）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3035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FB1CC"/>
                </a:solidFill>
                <a:latin typeface="Microsoft YaHei"/>
              </a:rPr>
              <a:t>技术方案与可行性研究 · 待人工审核草稿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715000"/>
            <a:ext cx="66751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BBF24"/>
                </a:solidFill>
                <a:latin typeface="Microsoft YaHei"/>
              </a:rPr>
              <a:t>内容来自平台当前报告版本，不继承正式业务批准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5742432"/>
            <a:ext cx="3822191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50" b="0">
                <a:solidFill>
                  <a:srgbClr val="9FB1CC"/>
                </a:solidFill>
                <a:latin typeface="Microsoft YaHei"/>
              </a:rPr>
              <a:t>technical-solution v8 | SHA256=c004ab2ed4ff04f2fd807af35868753e3c7ebb1ac0b084660c4ff38f92e08a5a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5998464"/>
            <a:ext cx="3822191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50" b="0">
                <a:solidFill>
                  <a:srgbClr val="9FB1CC"/>
                </a:solidFill>
                <a:latin typeface="Microsoft YaHei"/>
              </a:rPr>
              <a:t>feasibility v8 | SHA256=f1d234fed3e4f9634e0a5d1167973a59de303055e41aa4955a8c053c6c7dc699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汇报结构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总体导览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来源块：technical-solution:Cb6451cc6dd815a950de3dcc4、technical-solution:C8a1eb106427026fd9f7daef2、technical-solution:C562a77a7ae22fe1bb05561df、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16152"/>
            <a:ext cx="5074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2D3EE"/>
                </a:solidFill>
                <a:latin typeface="Microsoft YaHei"/>
              </a:rPr>
              <a:t>技术方案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7556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现状与建设必要性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61288" y="22037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4688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24414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备选技术路线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61288" y="28895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1546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1272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实施条件与技术方案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61288" y="35753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38404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8130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风险与控制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61288" y="42611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5262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44988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经济资料边界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61288" y="4946904"/>
            <a:ext cx="4325112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63640" y="1216152"/>
            <a:ext cx="50749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Microsoft YaHei"/>
              </a:rPr>
              <a:t>可行性研究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17830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7" y="17556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现状与建设必要性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39127" y="22037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63640" y="24688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9127" y="24414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备选技术路线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39127" y="28895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63640" y="31546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7" y="31272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实施条件与技术方案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39127" y="35753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63640" y="38404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7" y="38130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风险与控制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39127" y="42611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63640" y="4526280"/>
            <a:ext cx="38404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0A5FA"/>
                </a:solidFill>
                <a:latin typeface="Microsoft YaHei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7" y="4498848"/>
            <a:ext cx="4389120" cy="4206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经济资料边界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39127" y="4946904"/>
            <a:ext cx="4325113" cy="0"/>
          </a:xfrm>
          <a:prstGeom prst="line">
            <a:avLst/>
          </a:prstGeom>
          <a:ln w="10160">
            <a:solidFill>
              <a:srgbClr val="1535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技术方案核心架构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技术方案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来源块：technical-solution:Cb6451cc6dd815a950de3dcc4、technical-solution:Cb6451cc6dd815a950de3dcc4S1、technical-solution:Cb6451cc6dd815a950de3dcc4P1、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2423160"/>
            <a:ext cx="2834640" cy="1225296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现状与建设必要性 设计目标与约束 现状与建设必要性：本节依据已上传资…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AF2FF"/>
                </a:solidFill>
                <a:latin typeface="Microsoft YaHei"/>
              </a:rPr>
              <a:t>现状与建设必要性 设计目标与约束 现状与建设必要性：本节依据已上传资料说明当前范围、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1929384"/>
            <a:ext cx="1024128" cy="1106424"/>
          </a:xfrm>
          <a:prstGeom prst="line">
            <a:avLst/>
          </a:prstGeom>
          <a:ln w="2032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141732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所有设备名称与数量均以输入清单为准，未提供的品牌、地址、责任人和商务数据不作推断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516368" y="1929384"/>
            <a:ext cx="1033272" cy="1106424"/>
          </a:xfrm>
          <a:prstGeom prst="line">
            <a:avLst/>
          </a:prstGeom>
          <a:ln w="2032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正式交付前仍须由项目负责人逐项复核来源、适用边界和实施条件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035808"/>
            <a:ext cx="1024128" cy="1819656"/>
          </a:xfrm>
          <a:prstGeom prst="line">
            <a:avLst/>
          </a:prstGeom>
          <a:ln w="2032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49640" y="4343400"/>
            <a:ext cx="2971800" cy="1024128"/>
          </a:xfrm>
          <a:prstGeom prst="roundRect">
            <a:avLst/>
          </a:prstGeom>
          <a:solidFill>
            <a:srgbClr val="102A46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EAF2FF"/>
                </a:solidFill>
                <a:latin typeface="Microsoft YaHei"/>
              </a:rPr>
              <a:t>方案组成与关键机制 现状与建设必要性：方案采用分阶段核对方法：先确认业务需求和现状，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516368" y="3035808"/>
            <a:ext cx="1033272" cy="1819656"/>
          </a:xfrm>
          <a:prstGeom prst="line">
            <a:avLst/>
          </a:prstGeom>
          <a:ln w="2032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可行性实施路径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可行性研究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来源块：feasibility:Cb6451cc6dd815a950de3dcc4、feasibility:Cb6451cc6dd815a950de3dcc4S1、feasibility:Cb6451cc6dd815a950de3dcc4P1、feasibility:Cb6451cc6dd815a950de3dcc4S2、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process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7238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713232" y="1463040"/>
            <a:ext cx="566928" cy="566928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阶段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现状与建设必要性 评价目标与分析边界 现状与建设必要性：本节依据已上传资料说明当前范围、目标和约束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6130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502152" y="1463040"/>
            <a:ext cx="566928" cy="566928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Microsoft YaHei"/>
              </a:rPr>
              <a:t>阶段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所有设备名称与数量均以输入清单为准，未提供的品牌、地址、责任人和商务数据不作推断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224" y="2907792"/>
            <a:ext cx="384048" cy="0"/>
          </a:xfrm>
          <a:prstGeom prst="line">
            <a:avLst/>
          </a:prstGeom>
          <a:ln w="25400">
            <a:solidFill>
              <a:srgbClr val="9FB1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291072" y="1463040"/>
            <a:ext cx="566928" cy="566928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阶段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正式交付前仍须由项目负责人逐项复核来源、适用边界和实施条件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1" y="1463040"/>
            <a:ext cx="566928" cy="566928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71426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1" y="2267712"/>
            <a:ext cx="23317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阶段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2770632"/>
            <a:ext cx="2331720" cy="20574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AF2FF"/>
                </a:solidFill>
                <a:latin typeface="Microsoft YaHei"/>
              </a:rPr>
              <a:t>现状依据与关键假设 现状与建设必要性：方案采用分阶段核对方法：先确认业务需求和现状，再校验技术依赖、接口边界与安全控制，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47472"/>
            <a:ext cx="987552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</a:rPr>
              <a:t>待确认事项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6768" y="374904"/>
            <a:ext cx="841248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37376"/>
            <a:ext cx="2651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FB1CC"/>
                </a:solidFill>
                <a:latin typeface="Microsoft YaHei"/>
              </a:rPr>
              <a:t>决策门槛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6400800"/>
            <a:ext cx="78181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来源块：technical-solution:PEND1、feasibility:PEND1、technical-solution:PEND2、feasibility:PEND3、technical-solution:PEND3、feasibility:PEND4、feasibility:PEND2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502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9FB1CC"/>
                </a:solidFill>
                <a:latin typeface="Microsoft YaHei"/>
              </a:rPr>
              <a:t>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133856"/>
            <a:ext cx="9966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BBF24"/>
                </a:solidFill>
                <a:latin typeface="Microsoft YaHei"/>
              </a:rPr>
              <a:t>以下事项未被平台自动补全，正式使用前必须逐项确认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6" y="1810512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EAF2FF"/>
                </a:solidFill>
                <a:latin typeface="Microsoft YaHei"/>
              </a:rPr>
              <a:t>正式模板与样例、内容及格式批准尚未完成；本件始终为待核草稿。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121408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technical-solution:PEND1、feasibility…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23744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505456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>
                <a:solidFill>
                  <a:srgbClr val="EAF2FF"/>
                </a:solidFill>
                <a:latin typeface="Microsoft YaHei"/>
              </a:rPr>
              <a:t>运维责任人、最终IP地址、建设成本、运维成本和收益依据待确认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816351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technical-solution:PEND2、feasibility…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18688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3200400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EAF2FF"/>
                </a:solidFill>
                <a:latin typeface="Microsoft YaHei"/>
              </a:rPr>
              <a:t>日志留存180天与不少于6个月的口径待统一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3511296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technical-solution:PEND3、feasibility…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3840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BBF24"/>
                </a:solidFill>
                <a:latin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895344"/>
            <a:ext cx="9784080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EAF2FF"/>
                </a:solidFill>
                <a:latin typeface="Microsoft YaHei"/>
              </a:rPr>
              <a:t>未提供经核实的成本与收益依据，不形成经济成本、收益或回报结论。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4206240"/>
            <a:ext cx="13716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9FB1CC"/>
                </a:solidFill>
                <a:latin typeface="Microsoft YaHei"/>
              </a:rPr>
              <a:t>feasibility:PEND2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园区安全接入与集中审计三件套（代表性草稿）</dc:title>
  <dc:subject>平台自动生成的商务科技风待审草稿</dc:subject>
  <dc:creator/>
  <cp:keywords/>
  <dc:description>只使用当前报告来源；正式发布需要人工审核。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