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图示数量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cat>
            <c:strRef>
              <c:f>Sheet1!$A$2:$A$3</c:f>
              <c:strCache>
                <c:ptCount val="2"/>
                <c:pt idx="0">
                  <c:v>技术方案</c:v>
                </c:pt>
                <c:pt idx="1">
                  <c:v>可行性研究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EAF2FF"/>
              </a:solidFill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B1F38"/>
          </a:solidFill>
          <a:ln>
            <a:solidFill>
              <a:srgbClr val="0B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960120" cy="395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481328"/>
            <a:ext cx="63093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园区安全接入与集中审计综合方案汇报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18688"/>
            <a:ext cx="5303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Microsoft YaHei"/>
              </a:rPr>
              <a:t>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13248"/>
            <a:ext cx="5852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1CC"/>
                </a:solidFill>
                <a:latin typeface="Microsoft YaHei"/>
              </a:rPr>
              <a:t>企业智能体平台成果汇报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3886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72768"/>
            <a:ext cx="3520440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19288" y="5248656"/>
            <a:ext cx="34290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总体架构与业务闭环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项目成果全景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总体导览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46177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两份报告形成同一条决策链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45262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1CC"/>
                </a:solidFill>
                <a:latin typeface="Microsoft YaHei"/>
              </a:rPr>
              <a:t>技术方案说明系统怎样建设，可行性研究报告说明项目为什么可做、需要哪些条件。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资料与清单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45920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方案蓝图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6703" y="3931920"/>
            <a:ext cx="182881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96896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技术设计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3931920"/>
            <a:ext cx="182880" cy="0"/>
          </a:xfrm>
          <a:prstGeom prst="line">
            <a:avLst/>
          </a:prstGeom>
          <a:ln w="2032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47872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可行性论证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401568"/>
            <a:ext cx="768096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AF2FF"/>
                </a:solidFill>
                <a:latin typeface="Microsoft YaHei"/>
              </a:rPr>
              <a:t>成果交付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89320" y="1234440"/>
          <a:ext cx="28346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979408" y="1389888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35 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901952"/>
            <a:ext cx="21945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1CC"/>
                </a:solidFill>
                <a:latin typeface="Microsoft YaHei"/>
              </a:rPr>
              <a:t>彩色流程图与架构图
分布在对应业务章节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709160"/>
            <a:ext cx="4709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Word保持图文同页与题注连续，PPT提取关键图示形成管理视图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技术方案总体架构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70408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527048"/>
            <a:ext cx="6711696" cy="423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7" y="1216152"/>
            <a:ext cx="663854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总体架构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1" y="1261872"/>
            <a:ext cx="73152" cy="8412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243584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Microsoft YaHei"/>
              </a:rPr>
              <a:t>接入与身份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591055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统一登录、首次改密与部门权限边界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2432304"/>
            <a:ext cx="73152" cy="84124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414016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0A5FA"/>
                </a:solidFill>
                <a:latin typeface="Microsoft YaHei"/>
              </a:rPr>
              <a:t>智能体编排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761488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蓝图生成、人工审核与最多三轮修改闭环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3602736"/>
            <a:ext cx="73152" cy="84124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584448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Microsoft YaHei"/>
              </a:rPr>
              <a:t>知识与模型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931920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RAGFlow接口保留，当前测试使用本地资料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1" y="4773168"/>
            <a:ext cx="73152" cy="84124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754880"/>
            <a:ext cx="28803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BBF24"/>
                </a:solidFill>
                <a:latin typeface="Microsoft YaHei"/>
              </a:rPr>
              <a:t>数据与审计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102352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AF2FF"/>
                </a:solidFill>
                <a:latin typeface="Microsoft YaHei"/>
              </a:rPr>
              <a:t>对象存储、版本留痕、任务状态与审计日志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蓝图审核与成果生成流程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业务流程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212848"/>
            <a:ext cx="36576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资料上传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22776" y="2212848"/>
            <a:ext cx="36576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05456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文档解析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9864" y="2212848"/>
            <a:ext cx="36576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知识检索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16952" y="2212848"/>
            <a:ext cx="365760" cy="0"/>
          </a:xfrm>
          <a:prstGeom prst="line">
            <a:avLst/>
          </a:prstGeom>
          <a:ln w="2794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9632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蓝图生成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4040" y="2212848"/>
            <a:ext cx="365760" cy="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6720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人工审核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4D399"/>
                </a:solidFill>
                <a:latin typeface="Microsoft YaHei"/>
              </a:rP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3808" y="1682496"/>
            <a:ext cx="1444752" cy="1060704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成果生成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1325880"/>
            <a:ext cx="329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Microsoft YaHei"/>
              </a:rPr>
              <a:t>06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995160" y="2999232"/>
            <a:ext cx="1737360" cy="0"/>
          </a:xfrm>
          <a:prstGeom prst="line">
            <a:avLst/>
          </a:prstGeom>
          <a:ln w="2540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59168" y="3136392"/>
            <a:ext cx="1737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B7185"/>
                </a:solidFill>
                <a:latin typeface="Microsoft YaHei"/>
              </a:rPr>
              <a:t>修改意见 最多3轮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767328"/>
            <a:ext cx="46634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iagra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51376"/>
            <a:ext cx="4334255" cy="13350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0976" y="3840480"/>
            <a:ext cx="4261103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业务闭环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822191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审核通过后的自动交付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07024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技术方案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6096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可行性研究报告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5167" y="4498848"/>
            <a:ext cx="1481328" cy="841248"/>
          </a:xfrm>
          <a:prstGeom prst="roundRect">
            <a:avLst/>
          </a:prstGeom>
          <a:solidFill>
            <a:srgbClr val="153553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商务科技汇报PPT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可行性判断与实施控制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382512"/>
            <a:ext cx="5074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FB1CC"/>
                </a:solidFill>
                <a:latin typeface="Microsoft YaHei"/>
              </a:rPr>
              <a:t>内容来源：技术方案与可行性研究报告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实施阶段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3352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Hexagon 8"/>
          <p:cNvSpPr/>
          <p:nvPr/>
        </p:nvSpPr>
        <p:spPr>
          <a:xfrm>
            <a:off x="713232" y="1600200"/>
            <a:ext cx="987552" cy="749808"/>
          </a:xfrm>
          <a:prstGeom prst="hexag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准备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exagon 10"/>
          <p:cNvSpPr/>
          <p:nvPr/>
        </p:nvSpPr>
        <p:spPr>
          <a:xfrm>
            <a:off x="2011680" y="1600200"/>
            <a:ext cx="987552" cy="749808"/>
          </a:xfrm>
          <a:prstGeom prst="hexagon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1975104"/>
            <a:ext cx="301752" cy="0"/>
          </a:xfrm>
          <a:prstGeom prst="line">
            <a:avLst/>
          </a:prstGeom>
          <a:ln w="2286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3310128" y="1600200"/>
            <a:ext cx="987552" cy="749808"/>
          </a:xfrm>
          <a:prstGeom prst="hexagon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迁移</a:t>
            </a:r>
          </a:p>
        </p:txBody>
      </p:sp>
      <p:sp>
        <p:nvSpPr>
          <p:cNvPr id="14" name="Hexagon 13"/>
          <p:cNvSpPr/>
          <p:nvPr/>
        </p:nvSpPr>
        <p:spPr>
          <a:xfrm>
            <a:off x="4608576" y="1600200"/>
            <a:ext cx="987552" cy="749808"/>
          </a:xfrm>
          <a:prstGeom prst="hexagon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426"/>
                </a:solidFill>
                <a:latin typeface="Microsoft YaHei"/>
              </a:rPr>
              <a:t>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89504"/>
            <a:ext cx="45720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风险控制矩阵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74720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资料完整性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52928" y="3502151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2928" y="3502151"/>
            <a:ext cx="749808" cy="182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438144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BF24"/>
                </a:solidFill>
                <a:latin typeface="Microsoft YaHei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05072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接口与环境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52928" y="4032504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52928" y="4032504"/>
            <a:ext cx="749808" cy="182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968496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BF24"/>
                </a:solidFill>
                <a:latin typeface="Microsoft Ya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35424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安全与权限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2928" y="4562856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52928" y="4562856"/>
            <a:ext cx="1051560" cy="1828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498848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FB7185"/>
                </a:solidFill>
                <a:latin typeface="Microsoft YaHei"/>
              </a:rPr>
              <a:t>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65775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F2FF"/>
                </a:solidFill>
                <a:latin typeface="Microsoft YaHei"/>
              </a:rPr>
              <a:t>运维与恢复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52928" y="5093207"/>
            <a:ext cx="1554480" cy="182880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52928" y="5093207"/>
            <a:ext cx="749808" cy="18288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5029199"/>
            <a:ext cx="38404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0A5FA"/>
                </a:solidFill>
                <a:latin typeface="Microsoft YaHei"/>
              </a:rPr>
              <a:t>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1143000"/>
            <a:ext cx="557784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iagram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1" y="1527048"/>
            <a:ext cx="5248655" cy="35021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79007" y="1216152"/>
            <a:ext cx="5175503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71426"/>
                </a:solidFill>
                <a:latin typeface="Microsoft YaHei"/>
              </a:rPr>
              <a:t>可行性决策门槛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68" y="5504688"/>
            <a:ext cx="5257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EAF2FF"/>
                </a:solidFill>
                <a:latin typeface="Microsoft YaHei"/>
              </a:rPr>
              <a:t>结论以资料范围、实施条件和验收结果为依据。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园区安全接入与集中审计综合方案汇报</dc:title>
  <dc:subject>企业智能体平台商务科技汇报</dc:subject>
  <dc:creator/>
  <cp:keywords/>
  <dc:description>内容来源于技术方案与可行性研究报告。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