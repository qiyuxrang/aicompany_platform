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0B1F38"/>
          </a:solidFill>
          <a:ln>
            <a:solidFill>
              <a:srgbClr val="0B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1143000"/>
            <a:ext cx="3474720" cy="3474720"/>
          </a:xfrm>
          <a:prstGeom prst="ellipse">
            <a:avLst/>
          </a:prstGeom>
          <a:noFill/>
          <a:ln w="27940"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14232" y="1627632"/>
            <a:ext cx="2514600" cy="2514600"/>
          </a:xfrm>
          <a:prstGeom prst="ellipse">
            <a:avLst/>
          </a:prstGeom>
          <a:noFill/>
          <a:ln w="279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98864" y="2112264"/>
            <a:ext cx="1508760" cy="1508760"/>
          </a:xfrm>
          <a:prstGeom prst="ellipse">
            <a:avLst/>
          </a:prstGeom>
          <a:noFill/>
          <a:ln w="279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76656"/>
            <a:ext cx="2560320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PROJECT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653796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园区安全接入与集中审计三件套（代表性草稿）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3035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FB1CC"/>
                </a:solidFill>
                <a:latin typeface="Microsoft YaHei"/>
              </a:rPr>
              <a:t>技术方案与可行性研究 · 待人工审核草稿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6675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BBF24"/>
                </a:solidFill>
                <a:latin typeface="Microsoft YaHei"/>
              </a:rPr>
              <a:t>内容来自平台当前报告版本，不继承正式业务批准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5897880"/>
            <a:ext cx="3657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technical-solution v5 | SHA256=8b5c92b652ea6c9b2d87dc9897ffb6dd4b227a2934d33f8f206d91f2a54427c8 feasibility v5 | SHA256=e46d4…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汇报结构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总体导览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来源块：technical-solution:Cb6451cc6dd815a950de3dcc4、technical-solution:C8a1eb106427026fd9f7daef2、technical-solution:C562a77a7ae22fe1bb05561df、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16152"/>
            <a:ext cx="5074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技术方案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556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现状与建设必要性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61288" y="22037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4688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4414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备选技术路线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61288" y="28895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1546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1272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实施条件与技术方案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61288" y="35753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8404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8130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风险与控制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61288" y="42611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5262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4988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经济资料边界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61288" y="49469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1216152"/>
            <a:ext cx="5074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Microsoft YaHei"/>
              </a:rPr>
              <a:t>可行性研究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7830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7" y="17556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现状与建设必要性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39127" y="22037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63640" y="24688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7" y="24414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备选技术路线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39127" y="28895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63640" y="31546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7" y="31272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实施条件与技术方案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39127" y="35753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63640" y="38404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7" y="38130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风险与控制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39127" y="42611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63640" y="45262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7" y="44988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经济资料边界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39127" y="49469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内容来源与边界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证据边界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来源块：technical-solution:8b5c92b652ea、feasibility:e46d4dedc95f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47548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当前汇报只压缩已持久化报告内容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470916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FB1CC"/>
                </a:solidFill>
                <a:latin typeface="Microsoft YaHei"/>
              </a:rPr>
              <a:t>所有方案事实、数量和判断均应回到原始资料复核。报告中的缺项、冲突和待确认事项不会在汇报中自动补全。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73552"/>
            <a:ext cx="1371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技术方案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73552"/>
            <a:ext cx="329184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FB1CC"/>
                </a:solidFill>
                <a:latin typeface="Microsoft YaHei"/>
              </a:rPr>
              <a:t>版本 v5
SHA256 8b5c92b652ea6c9b2d87dc9897ffb6dd4b227a2934d33f8f206d91f2a54427c8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87952"/>
            <a:ext cx="1371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可行性研究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187952"/>
            <a:ext cx="329184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FB1CC"/>
                </a:solidFill>
                <a:latin typeface="Microsoft YaHei"/>
              </a:rPr>
              <a:t>版本 v5
SHA256 e46d4dedc95f9899e9000e2bf512c96bbf67b65d9076a8227124cbc5fccd2693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298448"/>
            <a:ext cx="5074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AF2FF"/>
                </a:solidFill>
                <a:latin typeface="Microsoft YaHei"/>
              </a:rPr>
              <a:t>来源内容块覆盖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48840"/>
            <a:ext cx="2057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技术方案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624328"/>
            <a:ext cx="4800600" cy="292608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89320" y="2624328"/>
            <a:ext cx="3711102" cy="292608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71632" y="2569464"/>
            <a:ext cx="43891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109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566160"/>
            <a:ext cx="2057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可行性研究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4041648"/>
            <a:ext cx="4800600" cy="292608"/>
          </a:xfrm>
          <a:prstGeom prst="roundRect">
            <a:avLst/>
          </a:prstGeom>
          <a:solidFill>
            <a:srgbClr val="153553"/>
          </a:solidFill>
          <a:ln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89320" y="4041648"/>
            <a:ext cx="4800600" cy="292608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71632" y="3986784"/>
            <a:ext cx="43891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141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9728" cy="544068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81381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71216"/>
            <a:ext cx="93268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FB1CC"/>
                </a:solidFill>
                <a:latin typeface="Microsoft YaHei"/>
              </a:rPr>
              <a:t>5 个章节 · 内容来源于当前报告版本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现状与建设必要性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4407408"/>
            <a:ext cx="169164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81528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备选技术路线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1528" y="4407408"/>
            <a:ext cx="169164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57216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实施条件与技术方案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57216" y="4407408"/>
            <a:ext cx="169164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32904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风险与控制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32904" y="4407408"/>
            <a:ext cx="169164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08592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经济资料边界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08592" y="4407408"/>
            <a:ext cx="169164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0" y="6172200"/>
            <a:ext cx="685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来源块：technical-solution:Cb6451cc6dd815a950de3dcc4、technical-solution:Cb6451cc6dd815a950de3dcc4S1、technical-solution:Cb6451cc6dd815a950de3dcc4P1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设计目标与约束 技术方案的本节主题为现状与建设必要性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设计目标与约束 技术方案的本节主题为现状与建设必要性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现网双链路需要统一远程接入控制与集中审计，设备事实范围为2台网关和1套审计节点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围绕现状与建设必要性展开时，需要把输入事实、方案推断和待确认事项分开记录，并保持每一…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来源块：technical-solution:Cb6451cc6dd815a950de3dcc4、technical-solution:Cb6451cc6dd815a950de3dcc4S2、technical-solution:Cb6451cc6dd815a950de3dcc4P2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方案组成与关键机制 围绕现状与建设必要性展开时，需要把输入事实、方案推断和待确认事项分开记录，并保持每一项结论可以回到来源资料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来源块：technical-solution:Cb6451cc6dd815a950de3dcc4、technical-solution:Cb6451cc6dd815a950de3dcc4S3、technical-solution:Cb6451cc6dd815a950de3dcc4P3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298448"/>
            <a:ext cx="5230368" cy="10972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9344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路径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489204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实施方法与控制要求 建设成本、运维成本和收益资料尚未提供，因此本段不形成投资回报或成本节约判断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30752"/>
            <a:ext cx="480060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FB1CC"/>
                </a:solidFill>
                <a:latin typeface="Microsoft YaHei"/>
              </a:rPr>
              <a:t>每项建议属于待审核的方案推断，只有来源事实、约束条件和人工决定共同满足后才能执行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98448"/>
            <a:ext cx="5230368" cy="109728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09344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0A5FA"/>
                </a:solidFill>
                <a:latin typeface="Microsoft YaHei"/>
              </a:rPr>
              <a:t>路径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12848"/>
            <a:ext cx="489204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730752"/>
            <a:ext cx="4800600" cy="1188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FB1CC"/>
                </a:solidFill>
                <a:latin typeface="Microsoft YaHei"/>
              </a:rPr>
              <a:t>对现状与建设必要性的描述采用分阶段核对方式，先确认现状和边界，再记录实施条件，最终由人工审核决定是否进入后续交付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606040"/>
            <a:ext cx="822960" cy="7315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来源块：technical-solution:Cb6451cc6dd815a950de3dcc4、technical-solution:Cb6451cc6dd815a950de3dcc4S4、technical-solution:Cb6451cc6dd815a950de3dcc4P4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control-loop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2578608"/>
            <a:ext cx="2487168" cy="1325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治理闭环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61872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运行保障与验收要点 本段保留回退、验证和责任确认要求，避免把压力验收文字当作…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407408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对现状与建设必要性的描述采用分阶段核对方式，先确认现状和边界，再记录实施条件…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752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技术方案的本节主题为现状与建设必要性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来源块：technical-solution:Cb6451cc6dd815a950de3dcc4、technical-solution:Cb6451cc6dd815a950de3dcc4S5、technical-solution:Cb6451cc6dd815a950de3dcc4P5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spotlight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44168"/>
            <a:ext cx="6903720" cy="1600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设计目标与约束 建设成本、运维成本和收益资料尚未提供，因此本段不形成投资回报或成本节约判断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310128"/>
            <a:ext cx="676656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730752"/>
            <a:ext cx="672084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FB1CC"/>
                </a:solidFill>
                <a:latin typeface="Microsoft YaHei"/>
              </a:rPr>
              <a:t>对现状与建设必要性的描述采用分阶段核对方式，先确认现状和边界，再记录实施条件，最终由人工审核决定是否进入后续交付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81328"/>
            <a:ext cx="2880360" cy="141732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技术方案的本节主题为现状与建设必要性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447288"/>
            <a:ext cx="2880360" cy="141732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现网双链路需要统一远程接入控制与集中审计，设备事实范围为2台网关和1套审计节点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来源块：technical-solution:Cb6451cc6dd815a950de3dcc4、technical-solution:Cb6451cc6dd815a950de3dcc4S6、technical-solution:Cb6451cc6dd815a950de3dcc4P6、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方案组成与关键机制 对现状与建设必要性的描述采用分阶段核对方式，先确…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方案组成与关键机制 对现状与建设必要性的描述采用分阶段核对方式，先确认现状和边界，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技术方案的本节主题为现状与建设必要性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现网双链路需要统一远程接入控制与集中审计，设备事实范围为2台网关和1套审计节点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围绕现状与建设必要性展开时，需要把输入事实、方案推断和待确认事项分开记录，并保持每一…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来源块：technical-solution:C8a1eb106427026fd9f7daef2、technical-solution:C8a1eb106427026fd9f7daef2S1、technical-solution:C8a1eb106427026fd9f7daef2P1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设计目标与约束 技术方案的本节主题为备选技术路线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技术路线A为现网旁挂并行验证，路线B为窗口内直接切换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建议A属于工程推断，须人工确认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围绕备选技术路线展开时，需要把输入事实、方案推断和待确认事项分开记录，并保持每一项结论可以回到来源资料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来源块：technical-solution:C8a1eb106427026fd9f7daef2、technical-solution:C8a1eb106427026fd9f7daef2S2、technical-solution:C8a1eb106427026fd9f7daef2P2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方案组成与关键机制 围绕备选技术路线展开时，需要把输入事实、方案推断和待确认事项分开记录，并保持每一项结论可以回到来源资料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来源块：technical-solution:C8a1eb106427026fd9f7daef2、technical-solution:C8a1eb106427026fd9f7daef2S3、technical-solution:C8a1eb106427026fd9f7daef2P3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实施方法与控制要求 建设成本、运维成本和收益资料尚未提供，因此本段不…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实施方法与控制要求 建设成本、运维成本和收益资料尚未提供，因此本段不形成投资回报或成…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每项建议属于待审核的方案推断，只有来源事实、约束条件和人工决定共同满足后才能执行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对备选技术路线的描述采用分阶段核对方式，先确认现状和边界，再记录实施条件，最终由人工…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来源块：technical-solution:C8a1eb106427026fd9f7daef2、technical-solution:C8a1eb106427026fd9f7daef2S4、technical-solution:C8a1eb106427026fd9f7daef2P4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运行保障与验收要点 本段保留回退、验证和责任确认要求，避免把压力验收文字当作正式施工指令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对备选技术路线的描述采用分阶段核对方式，先确认现状和边界，再记录实施条件，最终由人工审核决定是否进入后续交付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技术方案的本节主题为备选技术路线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来源块：technical-solution:C8a1eb106427026fd9f7daef2、technical-solution:C8a1eb106427026fd9f7daef2S5、technical-solution:C8a1eb106427026fd9f7daef2P5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设计目标与约束 建设成本、运维成本和收益资料尚未提供，因此本段不形成投资回报或成本节约判断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对备选技术路线的描述采用分阶段核对方式，先确认现状和边界，再记录实施条件，最终由人工审核决定是否进入后续交付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技术方案的本节主题为备选技术路线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技术路线A为现网旁挂并行验证，路线B为窗口内直接切换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来源块：technical-solution:C8a1eb106427026fd9f7daef2、technical-solution:C8a1eb106427026fd9f7daef2S6、technical-solution:C8a1eb106427026fd9f7daef2P6、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方案组成与关键机制 对备选技术路线的描述采用分阶段核对方式，先确认现…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方案组成与关键机制 对备选技术路线的描述采用分阶段核对方式，先确认现状和边界，再记录…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技术方案的本节主题为备选技术路线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技术路线A为现网旁挂并行验证，路线B为窗口内直接切换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建议A属于工程推断，须人工确认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来源块：technical-solution:C562a77a7ae22fe1bb05561df、technical-solution:C562a77a7ae22fe1bb05561dfS1、technical-solution:C562a77a7ae22fe1bb05561dfP1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设计目标与约束 技术方案的本节主题为实施条件与技术方案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按准备、并行验证、分步迁移和回退确认实施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最终IP和运维责任人确认前不得进入正式切换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围绕实施条件与技术方案展开时，需要把输入事实、方案推断和待确认事项分开记录，并保持每一项结论可以回到来源资料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来源块：technical-solution:C562a77a7ae22fe1bb05561df、technical-solution:C562a77a7ae22fe1bb05561dfS2、technical-solution:C562a77a7ae22fe1bb05561dfP2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方案组成与关键机制 围绕实施条件与技术方案展开时，需要把输入事实、方案推断和待确认事项分开记录，并保持每一项结论可以回到来源资料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来源块：technical-solution:C562a77a7ae22fe1bb05561df、technical-solution:C562a77a7ae22fe1bb05561dfS3、technical-solution:C562a77a7ae22fe1bb05561dfP3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control-loop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2578608"/>
            <a:ext cx="2487168" cy="1325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治理闭环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61872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实施方法与控制要求 建设成本、运维成本和收益资料尚未提供，因此本段不形成投资…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每项建议属于待审核的方案推断，只有来源事实、约束条件和人工决定共同满足后才能…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407408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752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对实施条件与技术方案的描述采用分阶段核对方式，先确认现状和边界，再记录实施条…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来源块：technical-solution:C562a77a7ae22fe1bb05561df、technical-solution:C562a77a7ae22fe1bb05561dfS4、technical-solution:C562a77a7ae22fe1bb05561dfP4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运行保障与验收要点 本段保留回退、验证和责任确认要求，避免把压力验收文字当作正式施工指令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对实施条件与技术方案的描述采用分阶段核对方式，先确认现状和边界，再记录实施条件，最终由人工审核决定是否进入后续交付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技术方案的本节主题为实施条件与技术方案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来源块：technical-solution:C562a77a7ae22fe1bb05561df、technical-solution:C562a77a7ae22fe1bb05561dfS5、technical-solution:C562a77a7ae22fe1bb05561dfP5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设计目标与约束 建设成本、运维成本和收益资料尚未提供，因此本段不形成投资回报或成本节约判断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对实施条件与技术方案的描述采用分阶段核对方式，先确认现状和边界，再记录实施条件，最终由人工审核决定是否进入后续交付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技术方案的本节主题为实施条件与技术方案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按准备、并行验证、分步迁移和回退确认实施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来源块：technical-solution:C562a77a7ae22fe1bb05561df、technical-solution:DIAGRAM_03_HEADING、technical-solution:DIAGRAM_03_NOTE、technical-solution:DIAGRAM_08_HEADING、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应用架构 用户门户、业务服务、智能体服务与运营管理能力的协作关系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应用架构 用户门户、业务服务、智能体服务与运营管理能力的协作关系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图中颜色用于区分参与角色、平台能力、数据资源与控制节点，箭头表示主要依赖或处理方向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集成架构 平台与统一身份、知识库、模型网关和企业系统的集成方式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备份与恢复 数据备份、校验、异地保留、恢复演练和复盘改进流程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来源块：technical-solution:C37c48e35b50ae9c90981b34b、technical-solution:C37c48e35b50ae9c90981b34bS1、technical-solution:C37c48e35b50ae9c90981b34bP1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设计目标与约束 技术方案的本节主题为风险与控制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日志留存口径冲突会影响存储配置和验收，必须在正式实施前统一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围绕风险与控制展开时，需要把输入事实、方案推断和待确认事项分开记录，并保持每一项结论可以回到来源资料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来源块：technical-solution:C37c48e35b50ae9c90981b34b、technical-solution:C37c48e35b50ae9c90981b34bS2、technical-solution:C37c48e35b50ae9c90981b34bP2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方案组成与关键机制 围绕风险与控制展开时，需要把输入事实、方案推断和待确认事项分开记录，并保持每一项结论可以回到来源资料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来源块：technical-solution:C37c48e35b50ae9c90981b34b、technical-solution:C37c48e35b50ae9c90981b34bS3、technical-solution:C37c48e35b50ae9c90981b34bP3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实施方法与控制要求 建设成本、运维成本和收益资料尚未提供，因此本段不…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实施方法与控制要求 建设成本、运维成本和收益资料尚未提供，因此本段不形成投资回报或成…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每项建议属于待审核的方案推断，只有来源事实、约束条件和人工决定共同满足后才能执行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对风险与控制的描述采用分阶段核对方式，先确认现状和边界，再记录实施条件，最终由人工审…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来源块：technical-solution:C37c48e35b50ae9c90981b34b、technical-solution:C37c48e35b50ae9c90981b34bS4、technical-solution:C37c48e35b50ae9c90981b34bP4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运行保障与验收要点 本段保留回退、验证和责任确认要求，避免把压力验收文字当作正式施工指令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对风险与控制的描述采用分阶段核对方式，先确认现状和边界，再记录实施条件，最终由人工审核决定是否进入后续交付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技术方案的本节主题为风险与控制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来源块：technical-solution:C37c48e35b50ae9c90981b34b、technical-solution:C37c48e35b50ae9c90981b34bS5、technical-solution:C37c48e35b50ae9c90981b34bP5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设计目标与约束 建设成本、运维成本和收益资料尚未提供，因此本段不形成投资回报或成本节约判断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对风险与控制的描述采用分阶段核对方式，先确认现状和边界，再记录实施条件，最终由人工审核决定是否进入后续交付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技术方案的本节主题为风险与控制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日志留存口径冲突会影响存储配置和验收，必须在正式实施前统一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来源块：technical-solution:C37c48e35b50ae9c90981b34b、technical-solution:C37c48e35b50ae9c90981b34bS6、technical-solution:C37c48e35b50ae9c90981b34bP6、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方案组成与关键机制 对风险与控制的描述采用分阶段核对方式，先确认现状…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方案组成与关键机制 对风险与控制的描述采用分阶段核对方式，先确认现状和边界，再记录实…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技术方案的本节主题为风险与控制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日志留存口径冲突会影响存储配置和验收，必须在正式实施前统一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围绕风险与控制展开时，需要把输入事实、方案推断和待确认事项分开记录，并保持每一项结论…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来源块：technical-solution:C5e9ad751b5e6102bb17b687e、technical-solution:C5e9ad751b5e6102bb17b687eS1、technical-solution:C5e9ad751b5e6102bb17b687eP1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设计目标与约束 技术方案的本节主题为经济资料边界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技术方案不承担经济结论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当前未取得经核实的成本或收益依据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围绕经济资料边界展开时，需要把输入事实、方案推断和待确认事项分开记录，并保持每一项结论可以回到来源资料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来源块：technical-solution:C5e9ad751b5e6102bb17b687e、technical-solution:C5e9ad751b5e6102bb17b687eS2、technical-solution:C5e9ad751b5e6102bb17b687eP2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方案组成与关键机制 围绕经济资料边界展开时，需要把输入事实、方案推断和待确认事项分开记录，并保持每一项结论可以回到来源资料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来源块：technical-solution:C5e9ad751b5e6102bb17b687e、technical-solution:C5e9ad751b5e6102bb17b687eS3、technical-solution:C5e9ad751b5e6102bb17b687eP3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control-loop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2578608"/>
            <a:ext cx="2487168" cy="1325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治理闭环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61872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实施方法与控制要求 建设成本、运维成本和收益资料尚未提供，因此本段不形成投资…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每项建议属于待审核的方案推断，只有来源事实、约束条件和人工决定共同满足后才能…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407408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752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对经济资料边界的描述采用分阶段核对方式，先确认现状和边界，再记录实施条件，最…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来源块：technical-solution:C5e9ad751b5e6102bb17b687e、technical-solution:C5e9ad751b5e6102bb17b687eS4、technical-solution:C5e9ad751b5e6102bb17b687eP4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运行保障与验收要点 本段保留回退、验证和责任确认要求，避免把压力验收文字当作正式施工指令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对经济资料边界的描述采用分阶段核对方式，先确认现状和边界，再记录实施条件，最终由人工审核决定是否进入后续交付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技术方案的本节主题为经济资料边界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来源块：technical-solution:C5e9ad751b5e6102bb17b687e、technical-solution:C5e9ad751b5e6102bb17b687eS5、technical-solution:C5e9ad751b5e6102bb17b687eP5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设计目标与约束 建设成本、运维成本和收益资料尚未提供，因此本段不形成投资回报或成本节约判断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对经济资料边界的描述采用分阶段核对方式，先确认现状和边界，再记录实施条件，最终由人工审核决定是否进入后续交付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技术方案的本节主题为经济资料边界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技术方案不承担经济结论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来源块：technical-solution:C5e9ad751b5e6102bb17b687e、technical-solution:C5e9ad751b5e6102bb17b687eS6、technical-solution:C5e9ad751b5e6102bb17b687eP6、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方案组成与关键机制 对经济资料边界的描述采用分阶段核对方式，先确认现…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方案组成与关键机制 对经济资料边界的描述采用分阶段核对方式，先确认现状和边界，再记录…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技术方案的本节主题为经济资料边界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技术方案不承担经济结论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当前未取得经核实的成本或收益依据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09728" cy="544068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097280"/>
            <a:ext cx="201168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81381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可行性研究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71216"/>
            <a:ext cx="93268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FB1CC"/>
                </a:solidFill>
                <a:latin typeface="Microsoft YaHei"/>
              </a:rPr>
              <a:t>5 个章节 · 内容来源于当前报告版本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现状与建设必要性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05840" y="4407408"/>
            <a:ext cx="1691640" cy="0"/>
          </a:xfrm>
          <a:prstGeom prst="line">
            <a:avLst/>
          </a:prstGeom>
          <a:ln w="2794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81528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备选技术路线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1528" y="4407408"/>
            <a:ext cx="1691640" cy="0"/>
          </a:xfrm>
          <a:prstGeom prst="line">
            <a:avLst/>
          </a:prstGeom>
          <a:ln w="2794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57216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实施条件与技术方案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57216" y="4407408"/>
            <a:ext cx="1691640" cy="0"/>
          </a:xfrm>
          <a:prstGeom prst="line">
            <a:avLst/>
          </a:prstGeom>
          <a:ln w="2794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32904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风险与控制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32904" y="4407408"/>
            <a:ext cx="1691640" cy="0"/>
          </a:xfrm>
          <a:prstGeom prst="line">
            <a:avLst/>
          </a:prstGeom>
          <a:ln w="2794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08592" y="4681728"/>
            <a:ext cx="1691640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经济资料边界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08592" y="4407408"/>
            <a:ext cx="1691640" cy="0"/>
          </a:xfrm>
          <a:prstGeom prst="line">
            <a:avLst/>
          </a:prstGeom>
          <a:ln w="2794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0" y="6172200"/>
            <a:ext cx="6858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来源块：feasibility:Cb6451cc6dd815a950de3dcc4、feasibility:Cb6451cc6dd815a950de3dcc4S1、feasibility:Cb6451cc6dd815a950de3dcc4P1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评价目标与分析边界 可行性研究报告的本节主题为现状与建设必要性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评价目标与分析边界 可行性研究报告的本节主题为现状与建设必要性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统一接入控制和审计追溯具有建设必要性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该判断仅基于已提供的控制目标，不扩大为收益结论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围绕现状与建设必要性展开时，需要把输入事实、方案推断和待确认事项分开记录，并保持每一…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来源块：feasibility:Cb6451cc6dd815a950de3dcc4、feasibility:Cb6451cc6dd815a950de3dcc4S2、feasibility:Cb6451cc6dd815a950de3dcc4P2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spotlight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44168"/>
            <a:ext cx="6903720" cy="1600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现状依据与关键假设 围绕现状与建设必要性展开时，需要把输入事实、方案推断和待确认事项分开记录，并保持每一项结论可以回到来源资料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310128"/>
            <a:ext cx="676656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730752"/>
            <a:ext cx="672084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FB1CC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81328"/>
            <a:ext cx="2880360" cy="141732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447288"/>
            <a:ext cx="2880360" cy="141732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来源块：feasibility:Cb6451cc6dd815a950de3dcc4、feasibility:Cb6451cc6dd815a950de3dcc4S3、feasibility:Cb6451cc6dd815a950de3dcc4P3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可行性论证与风险控制 建设成本、运维成本和收益资料尚未提供，因此本段…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可行性论证与风险控制 建设成本、运维成本和收益资料尚未提供，因此本段不形成投资回报或…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每项建议属于待审核的方案推断，只有来源事实、约束条件和人工决定共同满足后才能执行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对现状与建设必要性的描述采用分阶段核对方式，先确认现状和边界，再记录实施条件，最终由…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来源块：feasibility:Cb6451cc6dd815a950de3dcc4、feasibility:Cb6451cc6dd815a950de3dcc4S4、feasibility:Cb6451cc6dd815a950de3dcc4P4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实施条件与决策建议 本段保留回退、验证和责任确认要求，避免把压力验收…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实施条件与决策建议 本段保留回退、验证和责任确认要求，避免把压力验收文字当作正式施工…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对现状与建设必要性的描述采用分阶段核对方式，先确认现状和边界，再记录实施条件，最终由…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可行性研究报告的本节主题为现状与建设必要性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来源块：feasibility:Cb6451cc6dd815a950de3dcc4、feasibility:Cb6451cc6dd815a950de3dcc4S5、feasibility:Cb6451cc6dd815a950de3dcc4P5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control-loop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2578608"/>
            <a:ext cx="2487168" cy="1325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治理闭环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61872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评价目标与分析边界 建设成本、运维成本和收益资料尚未提供，因此本段不形成投资…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对现状与建设必要性的描述采用分阶段核对方式，先确认现状和边界，再记录实施条件…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407408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可行性研究报告的本节主题为现状与建设必要性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752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统一接入控制和审计追溯具有建设必要性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现状与建设必要性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来源块：feasibility:Cb6451cc6dd815a950de3dcc4、feasibility:Cb6451cc6dd815a950de3dcc4S6、feasibility:Cb6451cc6dd815a950de3dcc4P6、feasibility:Cb6451cc6dd815a950de3dcc4S7、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现状依据与关键假设 对现状与建设必要性的描述采用分阶段核对方式，先确…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现状依据与关键假设 对现状与建设必要性的描述采用分阶段核对方式，先确认现状和边界，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可行性研究报告的本节主题为现状与建设必要性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统一接入控制和审计追溯具有建设必要性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该判断仅基于已提供的控制目标，不扩大为收益结论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来源块：feasibility:C8a1eb106427026fd9f7daef2、feasibility:C8a1eb106427026fd9f7daef2S1、feasibility:C8a1eb106427026fd9f7daef2P1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评价目标与分析边界 可行性研究报告的本节主题为备选技术路线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比较旁挂并行验证与直接切换两种路线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前者回退条件较清晰，后者实施更集中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最终选择待人工确认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来源块：feasibility:C8a1eb106427026fd9f7daef2、feasibility:C8a1eb106427026fd9f7daef2S2、feasibility:C8a1eb106427026fd9f7daef2P2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现状依据与关键假设 围绕备选技术路线展开时，需要把输入事实、方案推断和待确认事项分开记录，并保持每一项结论可以回到来源资料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来源块：feasibility:C8a1eb106427026fd9f7daef2、feasibility:C8a1eb106427026fd9f7daef2S3、feasibility:C8a1eb106427026fd9f7daef2P3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control-loop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2578608"/>
            <a:ext cx="2487168" cy="1325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治理闭环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61872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可行性论证与风险控制 建设成本、运维成本和收益资料尚未提供，因此本段不形成投…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每项建议属于待审核的方案推断，只有来源事实、约束条件和人工决定共同满足后才能…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407408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752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对备选技术路线的描述采用分阶段核对方式，先确认现状和边界，再记录实施条件，最…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来源块：feasibility:C8a1eb106427026fd9f7daef2、feasibility:C8a1eb106427026fd9f7daef2S4、feasibility:C8a1eb106427026fd9f7daef2P4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实施条件与决策建议 本段保留回退、验证和责任确认要求，避免把压力验收文字当作正式施工指令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对备选技术路线的描述采用分阶段核对方式，先确认现状和边界，再记录实施条件，最终由人工审核决定是否进入后续交付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可行性研究报告的本节主题为备选技术路线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来源块：feasibility:C8a1eb106427026fd9f7daef2、feasibility:C8a1eb106427026fd9f7daef2S5、feasibility:C8a1eb106427026fd9f7daef2P5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评价目标与分析边界 建设成本、运维成本和收益资料尚未提供，因此本段不形成投资回报或成本节约判断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对备选技术路线的描述采用分阶段核对方式，先确认现状和边界，再记录实施条件，最终由人工审核决定是否进入后续交付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可行性研究报告的本节主题为备选技术路线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比较旁挂并行验证与直接切换两种路线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备选技术路线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来源块：feasibility:C8a1eb106427026fd9f7daef2、feasibility:C8a1eb106427026fd9f7daef2S6、feasibility:C8a1eb106427026fd9f7daef2P6、feasibility:C8a1eb106427026fd9f7daef2S7、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现状依据与关键假设 对备选技术路线的描述采用分阶段核对方式，先确认现…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现状依据与关键假设 对备选技术路线的描述采用分阶段核对方式，先确认现状和边界，再记录…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可行性研究报告的本节主题为备选技术路线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比较旁挂并行验证与直接切换两种路线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前者回退条件较清晰，后者实施更集中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来源块：feasibility:C562a77a7ae22fe1bb05561df、feasibility:C562a77a7ae22fe1bb05561dfS1、feasibility:C562a77a7ae22fe1bb05561dfP1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评价目标与分析边界 可行性研究报告的本节主题为实施条件与技术方案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可实施条件包括双链路、明确窗口和允许并行验证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未满足条件包括责任人、最终IP与留存口径确认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围绕实施条件与技术方案展开时，需要把输入事实、方案推断和待确认事项分开记录，并保持每一项结论可以回到来源资料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来源块：feasibility:C562a77a7ae22fe1bb05561df、feasibility:C562a77a7ae22fe1bb05561dfS2、feasibility:C562a77a7ae22fe1bb05561dfP2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现状依据与关键假设 围绕实施条件与技术方案展开时，需要把输入事实、方案推断和待确认事项分开记录，并保持每一项结论可以回到来源资料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来源块：feasibility:C562a77a7ae22fe1bb05561df、feasibility:C562a77a7ae22fe1bb05561dfS3、feasibility:C562a77a7ae22fe1bb05561dfP3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可行性论证与风险控制 建设成本、运维成本和收益资料尚未提供，因此本段…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可行性论证与风险控制 建设成本、运维成本和收益资料尚未提供，因此本段不形成投资回报或…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每项建议属于待审核的方案推断，只有来源事实、约束条件和人工决定共同满足后才能执行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对实施条件与技术方案的描述采用分阶段核对方式，先确认现状和边界，再记录实施条件，最终…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来源块：feasibility:C562a77a7ae22fe1bb05561df、feasibility:C562a77a7ae22fe1bb05561dfS4、feasibility:C562a77a7ae22fe1bb05561dfP4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实施条件与决策建议 本段保留回退、验证和责任确认要求，避免把压力验收文字当作正式施工指令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对实施条件与技术方案的描述采用分阶段核对方式，先确认现状和边界，再记录实施条件，最终由人工审核决定是否进入后续交付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可行性研究报告的本节主题为实施条件与技术方案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来源块：feasibility:C562a77a7ae22fe1bb05561df、feasibility:C562a77a7ae22fe1bb05561dfS5、feasibility:C562a77a7ae22fe1bb05561dfP5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评价目标与分析边界 建设成本、运维成本和收益资料尚未提供，因此本段不形成投资回报或成本节约判断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对实施条件与技术方案的描述采用分阶段核对方式，先确认现状和边界，再记录实施条件，最终由人工审核决定是否进入后续交付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可行性研究报告的本节主题为实施条件与技术方案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可实施条件包括双链路、明确窗口和允许并行验证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实施条件与技术方案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来源块：feasibility:C562a77a7ae22fe1bb05561df、feasibility:C562a77a7ae22fe1bb05561dfS6、feasibility:C562a77a7ae22fe1bb05561dfP6、feasibility:C562a77a7ae22fe1bb05561dfS7、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现状依据与关键假设 对实施条件与技术方案的描述采用分阶段核对方式，先…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现状依据与关键假设 对实施条件与技术方案的描述采用分阶段核对方式，先确认现状和边界，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可行性研究报告的本节主题为实施条件与技术方案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可实施条件包括双链路、明确窗口和允许并行验证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未满足条件包括责任人、最终IP与留存口径确认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来源块：feasibility:C37c48e35b50ae9c90981b34b、feasibility:C37c48e35b50ae9c90981b34bS1、feasibility:C37c48e35b50ae9c90981b34bP1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评价目标与分析边界 可行性研究报告的本节主题为风险与控制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主要风险为切换中断、配置口径不一致和责任边界缺失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以分步验证、回退和人工确认控制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围绕风险与控制展开时，需要把输入事实、方案推断和待确认事项分开记录，并保持每一项结论可以回到来源资料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来源块：feasibility:C37c48e35b50ae9c90981b34b、feasibility:C37c48e35b50ae9c90981b34bS2、feasibility:C37c48e35b50ae9c90981b34bP2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现状依据与关键假设 围绕风险与控制展开时，需要把输入事实、方案推断和待确认事项分开记录，并保持每一项结论可以回到来源资料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来源块：feasibility:C37c48e35b50ae9c90981b34b、feasibility:C37c48e35b50ae9c90981b34bS3、feasibility:C37c48e35b50ae9c90981b34bP3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control-loop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2578608"/>
            <a:ext cx="2487168" cy="1325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治理闭环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61872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可行性论证与风险控制 建设成本、运维成本和收益资料尚未提供，因此本段不形成投…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每项建议属于待审核的方案推断，只有来源事实、约束条件和人工决定共同满足后才能…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407408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752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对风险与控制的描述采用分阶段核对方式，先确认现状和边界，再记录实施条件，最终…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来源块：feasibility:C37c48e35b50ae9c90981b34b、feasibility:C37c48e35b50ae9c90981b34bS4、feasibility:C37c48e35b50ae9c90981b34bP4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实施条件与决策建议 本段保留回退、验证和责任确认要求，避免把压力验收文字当作正式施工指令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对风险与控制的描述采用分阶段核对方式，先确认现状和边界，再记录实施条件，最终由人工审核决定是否进入后续交付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可行性研究报告的本节主题为风险与控制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来源块：feasibility:C37c48e35b50ae9c90981b34b、feasibility:C37c48e35b50ae9c90981b34bS5、feasibility:C37c48e35b50ae9c90981b34bP5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评价目标与分析边界 建设成本、运维成本和收益资料尚未提供，因此本段不形成投资回报或成本节约判断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对风险与控制的描述采用分阶段核对方式，先确认现状和边界，再记录实施条件，最终由人工审核决定是否进入后续交付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可行性研究报告的本节主题为风险与控制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主要风险为切换中断、配置口径不一致和责任边界缺失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风险与控制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来源块：feasibility:C37c48e35b50ae9c90981b34b、feasibility:C37c48e35b50ae9c90981b34bS6、feasibility:C37c48e35b50ae9c90981b34bP6、feasibility:C37c48e35b50ae9c90981b34bS7、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现状依据与关键假设 对风险与控制的描述采用分阶段核对方式，先确认现状…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现状依据与关键假设 对风险与控制的描述采用分阶段核对方式，先确认现状和边界，再记录实…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可行性研究报告的本节主题为风险与控制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主要风险为切换中断、配置口径不一致和责任边界缺失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以分步验证、回退和人工确认控制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来源块：feasibility:C5e9ad751b5e6102bb17b687e、feasibility:C5e9ad751b5e6102bb17b687eS1、feasibility:C5e9ad751b5e6102bb17b687eP1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评价目标与分析边界 可行性研究报告的本节主题为经济资料边界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评价目标与分析边界 可行性研究报告的本节主题为经济资料边界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当前没有经核实的建设成本、运维成本或收益数据，因此不形成投资回报、成本节约或收益结论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围绕经济资料边界展开时，需要把输入事实、方案推断和待确认事项分开记录，并保持每一项结…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来源块：feasibility:C5e9ad751b5e6102bb17b687e、feasibility:C5e9ad751b5e6102bb17b687eS2、feasibility:C5e9ad751b5e6102bb17b687eP2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spotlight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44168"/>
            <a:ext cx="6903720" cy="1600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现状依据与关键假设 围绕经济资料边界展开时，需要把输入事实、方案推断和待确认事项分开记录，并保持每一项结论可以回到来源资料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310128"/>
            <a:ext cx="6766560" cy="7315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730752"/>
            <a:ext cx="672084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FB1CC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81328"/>
            <a:ext cx="2880360" cy="141732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实施窗口和双链路条件来自项目背景，具体切换步骤仍须由项目负责人结合现场核对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447288"/>
            <a:ext cx="2880360" cy="141732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本段保留回退、验证和责任确认要求，避免把压力验收文字当作正式施工指令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来源块：feasibility:C5e9ad751b5e6102bb17b687e、feasibility:C5e9ad751b5e6102bb17b687eS3、feasibility:C5e9ad751b5e6102bb17b687eP3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可行性论证与风险控制 建设成本、运维成本和收益资料尚未提供，因此本段…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可行性论证与风险控制 建设成本、运维成本和收益资料尚未提供，因此本段不形成投资回报或…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每项建议属于待审核的方案推断，只有来源事实、约束条件和人工决定共同满足后才能执行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所有设备名称和数量均以输入清单为准，不新增未提供的设备、规格、地址或责任人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对经济资料边界的描述采用分阶段核对方式，先确认现状和边界，再记录实施条件，最终由人工…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来源块：feasibility:C5e9ad751b5e6102bb17b687e、feasibility:C5e9ad751b5e6102bb17b687eS4、feasibility:C5e9ad751b5e6102bb17b687eP4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实施条件与决策建议 本段保留回退、验证和责任确认要求，避免把压力验收…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实施条件与决策建议 本段保留回退、验证和责任确认要求，避免把压力验收文字当作正式施工…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日志留存口径仍存在冲突，正文只描述待确认事项，不将任一口径写成已经批准的结论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对经济资料边界的描述采用分阶段核对方式，先确认现状和边界，再记录实施条件，最终由人工…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可行性研究报告的本节主题为经济资料边界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来源块：feasibility:C5e9ad751b5e6102bb17b687e、feasibility:C5e9ad751b5e6102bb17b687eS5、feasibility:C5e9ad751b5e6102bb17b687eP5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control-loop</a:t>
            </a:r>
          </a:p>
        </p:txBody>
      </p:sp>
      <p:sp>
        <p:nvSpPr>
          <p:cNvPr id="8" name="Oval 7"/>
          <p:cNvSpPr/>
          <p:nvPr/>
        </p:nvSpPr>
        <p:spPr>
          <a:xfrm>
            <a:off x="4846320" y="2578608"/>
            <a:ext cx="2487168" cy="1325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治理闭环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261872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评价目标与分析边界 建设成本、运维成本和收益资料尚未提供，因此本段不形成投资…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对经济资料边界的描述采用分阶段核对方式，先确认现状和边界，再记录实施条件，最…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407408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可行性研究报告的本节主题为经济资料边界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44752" y="2834640"/>
            <a:ext cx="2331720" cy="868680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AF2FF"/>
                </a:solidFill>
                <a:latin typeface="Microsoft YaHei"/>
              </a:rPr>
              <a:t>当前没有经核实的建设成本、运维成本或收益数据，因此不形成投资回报、成本节约或…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经济资料边界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来源块：feasibility:C5e9ad751b5e6102bb17b687e、feasibility:C5e9ad751b5e6102bb17b687eS6、feasibility:C5e9ad751b5e6102bb17b687eP6、feasibility:C5e9ad751b5e6102bb17b687eS7、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现状依据与关键假设 对经济资料边界的描述采用分阶段核对方式，先确认现…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现状依据与关键假设 对经济资料边界的描述采用分阶段核对方式，先确认现状和边界，再记录…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可行性研究报告的本节主题为经济资料边界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当前没有经核实的建设成本、运维成本或收益数据，因此不形成投资回报、成本节约或收益结论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围绕经济资料边界展开时，需要把输入事实、方案推断和待确认事项分开记录，并保持每一项结…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待确认事项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决策门槛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来源块：technical-solution:PEND1、feasibility:PEND1、technical-solution:PEND2、feasibility:PEND3、technical-solution:PEND3、feasibility:PEND4、feasibility:PEND2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133856"/>
            <a:ext cx="9966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以下事项未被平台自动补全，正式使用前必须逐项确认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810512"/>
            <a:ext cx="97840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EAF2FF"/>
                </a:solidFill>
                <a:latin typeface="Microsoft YaHei"/>
              </a:rPr>
              <a:t>正式模板与样例、内容及格式批准尚未完成；本件始终为待核草稿。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121408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technical-solution:PEND1、feasibility…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23744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505456"/>
            <a:ext cx="97840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EAF2FF"/>
                </a:solidFill>
                <a:latin typeface="Microsoft YaHei"/>
              </a:rPr>
              <a:t>运维责任人、最终IP地址、建设成本、运维成本和收益依据待确认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816351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technical-solution:PEND2、feasibility…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18688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3200400"/>
            <a:ext cx="97840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EAF2FF"/>
                </a:solidFill>
                <a:latin typeface="Microsoft YaHei"/>
              </a:rPr>
              <a:t>日志留存180天与不少于6个月的口径待统一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3511296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technical-solution:PEND3、feasibility…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895344"/>
            <a:ext cx="97840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EAF2FF"/>
                </a:solidFill>
                <a:latin typeface="Microsoft YaHei"/>
              </a:rPr>
              <a:t>未提供经核实的成本与收益依据，不形成经济成本、收益或回报结论。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206240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feasibility:PEND2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园区安全接入与集中审计三件套（代表性草稿）</dc:title>
  <dc:subject>平台自动生成的商务科技风待审草稿</dc:subject>
  <dc:creator/>
  <cp:keywords/>
  <dc:description>只使用当前报告来源；正式发布需要人工审核。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