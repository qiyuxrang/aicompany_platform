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图示数量</c:v>
                </c:pt>
              </c:strCache>
            </c:strRef>
          </c:tx>
          <c:dPt>
            <c:idx val="0"/>
            <c:spPr>
              <a:solidFill>
                <a:srgbClr val="22D3EE"/>
              </a:solidFill>
            </c:spPr>
          </c:dPt>
          <c:dPt>
            <c:idx val="1"/>
            <c:spPr>
              <a:solidFill>
                <a:srgbClr val="60A5FA"/>
              </a:solidFill>
            </c:spPr>
          </c:dPt>
          <c:cat>
            <c:strRef>
              <c:f>Sheet1!$A$2:$A$3</c:f>
              <c:strCache>
                <c:ptCount val="2"/>
                <c:pt idx="0">
                  <c:v>技术方案</c:v>
                </c:pt>
                <c:pt idx="1">
                  <c:v>可行性研究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</c:v>
                </c:pt>
                <c:pt idx="1">
                  <c:v>20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EAF2FF"/>
              </a:solidFill>
              <a:latin typeface="Microsoft YaHe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52360" y="0"/>
            <a:ext cx="4736592" cy="6858000"/>
          </a:xfrm>
          <a:prstGeom prst="rect">
            <a:avLst/>
          </a:prstGeom>
          <a:solidFill>
            <a:srgbClr val="0B1F38"/>
          </a:solidFill>
          <a:ln>
            <a:solidFill>
              <a:srgbClr val="0B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mpan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66928"/>
            <a:ext cx="960120" cy="3951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1481328"/>
            <a:ext cx="6309360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园区安全接入与集中审计综合方案汇报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18688"/>
            <a:ext cx="530352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2D3EE"/>
                </a:solidFill>
                <a:latin typeface="Microsoft YaHei"/>
              </a:rPr>
              <a:t>技术方案与可行性研究报告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413248"/>
            <a:ext cx="58521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FB1CC"/>
                </a:solidFill>
                <a:latin typeface="Microsoft YaHei"/>
              </a:rPr>
              <a:t>企业智能体平台成果汇报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143000"/>
            <a:ext cx="388620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iagram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572768"/>
            <a:ext cx="3520440" cy="3611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19288" y="5248656"/>
            <a:ext cx="34290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426"/>
                </a:solidFill>
                <a:latin typeface="Microsoft YaHei"/>
              </a:rPr>
              <a:t>总体架构与业务闭环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项目成果全景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总体导览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382512"/>
            <a:ext cx="5074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9FB1CC"/>
                </a:solidFill>
                <a:latin typeface="Microsoft YaHei"/>
              </a:rPr>
              <a:t>内容来源：技术方案与可行性研究报告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82512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9FB1CC"/>
                </a:solidFill>
                <a:latin typeface="Microsoft YaHei"/>
              </a:rPr>
              <a:t>panorama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115568"/>
            <a:ext cx="46177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两份报告形成同一条决策链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19072"/>
            <a:ext cx="452628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FB1CC"/>
                </a:solidFill>
                <a:latin typeface="Microsoft YaHei"/>
              </a:rPr>
              <a:t>技术方案说明系统怎样建设，可行性研究报告说明项目为什么可做、需要哪些条件。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44752" y="3931920"/>
            <a:ext cx="182880" cy="0"/>
          </a:xfrm>
          <a:prstGeom prst="line">
            <a:avLst/>
          </a:prstGeom>
          <a:ln w="2032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3401568"/>
            <a:ext cx="768096" cy="1060704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EAF2FF"/>
                </a:solidFill>
                <a:latin typeface="Microsoft YaHei"/>
              </a:rPr>
              <a:t>资料与清单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95728" y="3931920"/>
            <a:ext cx="182880" cy="0"/>
          </a:xfrm>
          <a:prstGeom prst="line">
            <a:avLst/>
          </a:prstGeom>
          <a:ln w="2032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645920" y="3401568"/>
            <a:ext cx="768096" cy="1060704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EAF2FF"/>
                </a:solidFill>
                <a:latin typeface="Microsoft YaHei"/>
              </a:rPr>
              <a:t>方案蓝图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46703" y="3931920"/>
            <a:ext cx="182881" cy="0"/>
          </a:xfrm>
          <a:prstGeom prst="line">
            <a:avLst/>
          </a:prstGeom>
          <a:ln w="2032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596896" y="3401568"/>
            <a:ext cx="768096" cy="1060704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EAF2FF"/>
                </a:solidFill>
                <a:latin typeface="Microsoft YaHei"/>
              </a:rPr>
              <a:t>技术设计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97680" y="3931920"/>
            <a:ext cx="182880" cy="0"/>
          </a:xfrm>
          <a:prstGeom prst="line">
            <a:avLst/>
          </a:prstGeom>
          <a:ln w="2032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547872" y="3401568"/>
            <a:ext cx="768096" cy="1060704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EAF2FF"/>
                </a:solidFill>
                <a:latin typeface="Microsoft YaHei"/>
              </a:rPr>
              <a:t>可行性论证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98848" y="3401568"/>
            <a:ext cx="768096" cy="1060704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EAF2FF"/>
                </a:solidFill>
                <a:latin typeface="Microsoft YaHei"/>
              </a:rPr>
              <a:t>成果交付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5989320" y="1234440"/>
          <a:ext cx="283464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8979408" y="1389888"/>
            <a:ext cx="201168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35 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1901952"/>
            <a:ext cx="21945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FB1CC"/>
                </a:solidFill>
                <a:latin typeface="Microsoft YaHei"/>
              </a:rPr>
              <a:t>彩色流程图与架构图
分布在对应业务章节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4709160"/>
            <a:ext cx="47091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EAF2FF"/>
                </a:solidFill>
                <a:latin typeface="Microsoft YaHei"/>
              </a:rPr>
              <a:t>Word保持图文同页与题注连续，PPT提取关键图示形成管理视图。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技术方案总体架构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技术方案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382512"/>
            <a:ext cx="5074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9FB1CC"/>
                </a:solidFill>
                <a:latin typeface="Microsoft YaHei"/>
              </a:rPr>
              <a:t>内容来源：技术方案与可行性研究报告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82512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9FB1CC"/>
                </a:solidFill>
                <a:latin typeface="Microsoft YaHei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43000"/>
            <a:ext cx="7040880" cy="4892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iagram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1" y="1527048"/>
            <a:ext cx="6711696" cy="423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7" y="1216152"/>
            <a:ext cx="663854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71426"/>
                </a:solidFill>
                <a:latin typeface="Microsoft YaHei"/>
              </a:rPr>
              <a:t>总体架构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28431" y="1261872"/>
            <a:ext cx="73152" cy="841248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243584"/>
            <a:ext cx="28803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2D3EE"/>
                </a:solidFill>
                <a:latin typeface="Microsoft YaHei"/>
              </a:rPr>
              <a:t>接入与身份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1591055"/>
            <a:ext cx="2880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EAF2FF"/>
                </a:solidFill>
                <a:latin typeface="Microsoft YaHei"/>
              </a:rPr>
              <a:t>现状与建设必要性 设计目标与约束 现状与建设必要性：本节依据已上传资料说明当前范围、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28431" y="2432304"/>
            <a:ext cx="73152" cy="841248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2414016"/>
            <a:ext cx="28803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60A5FA"/>
                </a:solidFill>
                <a:latin typeface="Microsoft YaHei"/>
              </a:rPr>
              <a:t>智能体编排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761488"/>
            <a:ext cx="2880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EAF2FF"/>
                </a:solidFill>
                <a:latin typeface="Microsoft YaHei"/>
              </a:rPr>
              <a:t>所有设备名称与数量均以输入清单为准，未提供的品牌、地址、责任人和商务数据不作推断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1" y="3602736"/>
            <a:ext cx="73152" cy="841248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3584448"/>
            <a:ext cx="28803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4D399"/>
                </a:solidFill>
                <a:latin typeface="Microsoft YaHei"/>
              </a:rPr>
              <a:t>知识与模型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3931920"/>
            <a:ext cx="2880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EAF2FF"/>
                </a:solidFill>
                <a:latin typeface="Microsoft YaHei"/>
              </a:rPr>
              <a:t>正式交付前仍须由项目负责人逐项复核来源、适用边界和实施条件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28431" y="4773168"/>
            <a:ext cx="73152" cy="841248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4754880"/>
            <a:ext cx="28803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BBF24"/>
                </a:solidFill>
                <a:latin typeface="Microsoft YaHei"/>
              </a:rPr>
              <a:t>数据与审计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5102352"/>
            <a:ext cx="2880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EAF2FF"/>
                </a:solidFill>
                <a:latin typeface="Microsoft YaHei"/>
              </a:rPr>
              <a:t>方案组成与关键机制 现状与建设必要性：方案采用分阶段核对方法：先确认业务需求和现状，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蓝图审核与成果生成流程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业务流程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382512"/>
            <a:ext cx="5074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9FB1CC"/>
                </a:solidFill>
                <a:latin typeface="Microsoft YaHei"/>
              </a:rPr>
              <a:t>内容来源：技术方案与可行性研究报告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82512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9FB1CC"/>
                </a:solidFill>
                <a:latin typeface="Microsoft YaHei"/>
              </a:rPr>
              <a:t>workflow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75688" y="2212848"/>
            <a:ext cx="365760" cy="0"/>
          </a:xfrm>
          <a:prstGeom prst="line">
            <a:avLst/>
          </a:prstGeom>
          <a:ln w="2794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58368" y="1682496"/>
            <a:ext cx="1444752" cy="1060704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资料上传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325880"/>
            <a:ext cx="329184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2D3EE"/>
                </a:solidFill>
                <a:latin typeface="Microsoft YaHei"/>
              </a:rPr>
              <a:t>01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22776" y="2212848"/>
            <a:ext cx="365760" cy="0"/>
          </a:xfrm>
          <a:prstGeom prst="line">
            <a:avLst/>
          </a:prstGeom>
          <a:ln w="2794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505456" y="1682496"/>
            <a:ext cx="1444752" cy="1060704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文档解析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1176" y="1325880"/>
            <a:ext cx="329184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0A5FA"/>
                </a:solidFill>
                <a:latin typeface="Microsoft YaHei"/>
              </a:rPr>
              <a:t>02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69864" y="2212848"/>
            <a:ext cx="365760" cy="0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52544" y="1682496"/>
            <a:ext cx="1444752" cy="1060704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知识检索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8264" y="1325880"/>
            <a:ext cx="329184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Microsoft YaHei"/>
              </a:rPr>
              <a:t>03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616952" y="2212848"/>
            <a:ext cx="365760" cy="0"/>
          </a:xfrm>
          <a:prstGeom prst="line">
            <a:avLst/>
          </a:prstGeom>
          <a:ln w="2794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99632" y="1682496"/>
            <a:ext cx="1444752" cy="1060704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蓝图生成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2" y="1325880"/>
            <a:ext cx="329184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BBF24"/>
                </a:solidFill>
                <a:latin typeface="Microsoft YaHei"/>
              </a:rPr>
              <a:t>04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64040" y="2212848"/>
            <a:ext cx="365760" cy="0"/>
          </a:xfrm>
          <a:prstGeom prst="line">
            <a:avLst/>
          </a:prstGeom>
          <a:ln w="2794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46720" y="1682496"/>
            <a:ext cx="1444752" cy="1060704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人工审核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1325880"/>
            <a:ext cx="329184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34D399"/>
                </a:solidFill>
                <a:latin typeface="Microsoft YaHei"/>
              </a:rPr>
              <a:t>05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93808" y="1682496"/>
            <a:ext cx="1444752" cy="1060704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成果生成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39528" y="1325880"/>
            <a:ext cx="329184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2D3EE"/>
                </a:solidFill>
                <a:latin typeface="Microsoft YaHei"/>
              </a:rPr>
              <a:t>06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6995160" y="2999232"/>
            <a:ext cx="1737360" cy="0"/>
          </a:xfrm>
          <a:prstGeom prst="line">
            <a:avLst/>
          </a:prstGeom>
          <a:ln w="2540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059168" y="3136392"/>
            <a:ext cx="173736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B7185"/>
                </a:solidFill>
                <a:latin typeface="Microsoft YaHei"/>
              </a:rPr>
              <a:t>修改意见 最多3轮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3767328"/>
            <a:ext cx="4663440" cy="19933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diagram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51376"/>
            <a:ext cx="4334255" cy="133502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50976" y="3840480"/>
            <a:ext cx="4261103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71426"/>
                </a:solidFill>
                <a:latin typeface="Microsoft YaHei"/>
              </a:rPr>
              <a:t>业务闭环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80" y="3822191"/>
            <a:ext cx="50749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审核通过后的自动交付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07024" y="4498848"/>
            <a:ext cx="1481328" cy="841248"/>
          </a:xfrm>
          <a:prstGeom prst="roundRect">
            <a:avLst/>
          </a:prstGeom>
          <a:solidFill>
            <a:srgbClr val="153553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技术方案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26096" y="4498848"/>
            <a:ext cx="1481328" cy="841248"/>
          </a:xfrm>
          <a:prstGeom prst="roundRect">
            <a:avLst/>
          </a:prstGeom>
          <a:solidFill>
            <a:srgbClr val="153553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可行性研究报告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45167" y="4498848"/>
            <a:ext cx="1481328" cy="841248"/>
          </a:xfrm>
          <a:prstGeom prst="roundRect">
            <a:avLst/>
          </a:prstGeom>
          <a:solidFill>
            <a:srgbClr val="153553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商务科技汇报PPT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可行性判断与实施控制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可行性研究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382512"/>
            <a:ext cx="5074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9FB1CC"/>
                </a:solidFill>
                <a:latin typeface="Microsoft YaHei"/>
              </a:rPr>
              <a:t>内容来源：技术方案与可行性研究报告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82512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9FB1CC"/>
                </a:solidFill>
                <a:latin typeface="Microsoft YaHei"/>
              </a:rPr>
              <a:t>feasibility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115568"/>
            <a:ext cx="45720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实施阶段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73352" y="1975104"/>
            <a:ext cx="301752" cy="0"/>
          </a:xfrm>
          <a:prstGeom prst="line">
            <a:avLst/>
          </a:prstGeom>
          <a:ln w="2286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Hexagon 9"/>
          <p:cNvSpPr/>
          <p:nvPr/>
        </p:nvSpPr>
        <p:spPr>
          <a:xfrm>
            <a:off x="713232" y="1600200"/>
            <a:ext cx="987552" cy="749808"/>
          </a:xfrm>
          <a:prstGeom prst="hexag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426"/>
                </a:solidFill>
                <a:latin typeface="Microsoft YaHei"/>
              </a:rPr>
              <a:t>准备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1975104"/>
            <a:ext cx="301752" cy="0"/>
          </a:xfrm>
          <a:prstGeom prst="line">
            <a:avLst/>
          </a:prstGeom>
          <a:ln w="2286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Hexagon 11"/>
          <p:cNvSpPr/>
          <p:nvPr/>
        </p:nvSpPr>
        <p:spPr>
          <a:xfrm>
            <a:off x="2011680" y="1600200"/>
            <a:ext cx="987552" cy="749808"/>
          </a:xfrm>
          <a:prstGeom prst="hexagon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426"/>
                </a:solidFill>
                <a:latin typeface="Microsoft YaHei"/>
              </a:rPr>
              <a:t>验证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1975104"/>
            <a:ext cx="301752" cy="0"/>
          </a:xfrm>
          <a:prstGeom prst="line">
            <a:avLst/>
          </a:prstGeom>
          <a:ln w="2286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3310128" y="1600200"/>
            <a:ext cx="987552" cy="749808"/>
          </a:xfrm>
          <a:prstGeom prst="hexagon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426"/>
                </a:solidFill>
                <a:latin typeface="Microsoft YaHei"/>
              </a:rPr>
              <a:t>迁移</a:t>
            </a:r>
          </a:p>
        </p:txBody>
      </p:sp>
      <p:sp>
        <p:nvSpPr>
          <p:cNvPr id="15" name="Hexagon 14"/>
          <p:cNvSpPr/>
          <p:nvPr/>
        </p:nvSpPr>
        <p:spPr>
          <a:xfrm>
            <a:off x="4608576" y="1600200"/>
            <a:ext cx="987552" cy="749808"/>
          </a:xfrm>
          <a:prstGeom prst="hexagon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426"/>
                </a:solidFill>
                <a:latin typeface="Microsoft YaHei"/>
              </a:rPr>
              <a:t>验收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889504"/>
            <a:ext cx="45720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风险控制矩阵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474720"/>
            <a:ext cx="21031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F2FF"/>
                </a:solidFill>
                <a:latin typeface="Microsoft YaHei"/>
              </a:rPr>
              <a:t>资料完整性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52928" y="3502151"/>
            <a:ext cx="1554480" cy="182880"/>
          </a:xfrm>
          <a:prstGeom prst="roundRect">
            <a:avLst/>
          </a:prstGeom>
          <a:solidFill>
            <a:srgbClr val="153553"/>
          </a:solidFill>
          <a:ln>
            <a:solidFill>
              <a:srgbClr val="15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52928" y="3502151"/>
            <a:ext cx="749808" cy="182880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3438144"/>
            <a:ext cx="38404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FBBF24"/>
                </a:solidFill>
                <a:latin typeface="Microsoft YaHei"/>
              </a:rPr>
              <a:t>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005072"/>
            <a:ext cx="21031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F2FF"/>
                </a:solidFill>
                <a:latin typeface="Microsoft YaHei"/>
              </a:rPr>
              <a:t>接口与环境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52928" y="4032504"/>
            <a:ext cx="1554480" cy="182880"/>
          </a:xfrm>
          <a:prstGeom prst="roundRect">
            <a:avLst/>
          </a:prstGeom>
          <a:solidFill>
            <a:srgbClr val="153553"/>
          </a:solidFill>
          <a:ln>
            <a:solidFill>
              <a:srgbClr val="15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852928" y="4032504"/>
            <a:ext cx="749808" cy="182880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3968496"/>
            <a:ext cx="38404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FBBF24"/>
                </a:solidFill>
                <a:latin typeface="Microsoft YaHei"/>
              </a:rPr>
              <a:t>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535424"/>
            <a:ext cx="21031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F2FF"/>
                </a:solidFill>
                <a:latin typeface="Microsoft YaHei"/>
              </a:rPr>
              <a:t>安全与权限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52928" y="4562856"/>
            <a:ext cx="1554480" cy="182880"/>
          </a:xfrm>
          <a:prstGeom prst="roundRect">
            <a:avLst/>
          </a:prstGeom>
          <a:solidFill>
            <a:srgbClr val="153553"/>
          </a:solidFill>
          <a:ln>
            <a:solidFill>
              <a:srgbClr val="15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852928" y="4562856"/>
            <a:ext cx="1051560" cy="182880"/>
          </a:xfrm>
          <a:prstGeom prst="round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53712" y="4498848"/>
            <a:ext cx="38404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FB7185"/>
                </a:solidFill>
                <a:latin typeface="Microsoft YaHei"/>
              </a:rPr>
              <a:t>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065775"/>
            <a:ext cx="21031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F2FF"/>
                </a:solidFill>
                <a:latin typeface="Microsoft YaHei"/>
              </a:rPr>
              <a:t>运维与恢复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52928" y="5093207"/>
            <a:ext cx="1554480" cy="182880"/>
          </a:xfrm>
          <a:prstGeom prst="roundRect">
            <a:avLst/>
          </a:prstGeom>
          <a:solidFill>
            <a:srgbClr val="153553"/>
          </a:solidFill>
          <a:ln>
            <a:solidFill>
              <a:srgbClr val="15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852928" y="5093207"/>
            <a:ext cx="749808" cy="182880"/>
          </a:xfrm>
          <a:prstGeom prst="round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5029199"/>
            <a:ext cx="38404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0A5FA"/>
                </a:solidFill>
                <a:latin typeface="Microsoft YaHei"/>
              </a:rPr>
              <a:t>中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77840" y="1143000"/>
            <a:ext cx="557784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diagram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431" y="1527048"/>
            <a:ext cx="5248655" cy="350215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779007" y="1216152"/>
            <a:ext cx="5175503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71426"/>
                </a:solidFill>
                <a:latin typeface="Microsoft YaHei"/>
              </a:rPr>
              <a:t>可行性评价框架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87568" y="5504688"/>
            <a:ext cx="5257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EAF2FF"/>
                </a:solidFill>
                <a:latin typeface="Microsoft YaHei"/>
              </a:rPr>
              <a:t>结论以资料范围、实施条件和验收结果为依据。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园区安全接入与集中审计综合方案汇报</dc:title>
  <dc:subject>企业智能体平台商务科技汇报</dc:subject>
  <dc:creator/>
  <cp:keywords/>
  <dc:description>内容来源于技术方案与可行性研究报告。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